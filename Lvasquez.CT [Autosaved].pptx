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8"/>
  </p:notesMasterIdLst>
  <p:sldIdLst>
    <p:sldId id="256" r:id="rId2"/>
    <p:sldId id="259" r:id="rId3"/>
    <p:sldId id="293" r:id="rId4"/>
    <p:sldId id="294" r:id="rId5"/>
    <p:sldId id="295" r:id="rId6"/>
    <p:sldId id="296" r:id="rId7"/>
    <p:sldId id="300" r:id="rId8"/>
    <p:sldId id="269" r:id="rId9"/>
    <p:sldId id="304" r:id="rId10"/>
    <p:sldId id="299" r:id="rId11"/>
    <p:sldId id="298" r:id="rId12"/>
    <p:sldId id="301" r:id="rId13"/>
    <p:sldId id="302" r:id="rId14"/>
    <p:sldId id="303" r:id="rId15"/>
    <p:sldId id="305" r:id="rId16"/>
    <p:sldId id="306" r:id="rId17"/>
  </p:sldIdLst>
  <p:sldSz cx="9144000" cy="5143500" type="screen16x9"/>
  <p:notesSz cx="6858000" cy="9144000"/>
  <p:embeddedFontLst>
    <p:embeddedFont>
      <p:font typeface="Raleway" pitchFamily="2" charset="77"/>
      <p:regular r:id="rId19"/>
      <p:bold r:id="rId20"/>
      <p:italic r:id="rId21"/>
      <p:boldItalic r:id="rId22"/>
    </p:embeddedFont>
    <p:embeddedFont>
      <p:font typeface="Raleway Black" panose="020F0502020204030204" pitchFamily="34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9AEC1F-05D3-48BC-8E49-4A4D4604CF3F}">
  <a:tblStyle styleId="{489AEC1F-05D3-48BC-8E49-4A4D4604CF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7"/>
    <p:restoredTop sz="86439"/>
  </p:normalViewPr>
  <p:slideViewPr>
    <p:cSldViewPr snapToGrid="0">
      <p:cViewPr varScale="1">
        <p:scale>
          <a:sx n="130" d="100"/>
          <a:sy n="130" d="100"/>
        </p:scale>
        <p:origin x="1400" y="192"/>
      </p:cViewPr>
      <p:guideLst>
        <p:guide orient="horz" pos="3240"/>
        <p:guide pos="2880"/>
      </p:guideLst>
    </p:cSldViewPr>
  </p:slideViewPr>
  <p:outlineViewPr>
    <p:cViewPr>
      <p:scale>
        <a:sx n="33" d="100"/>
        <a:sy n="33" d="100"/>
      </p:scale>
      <p:origin x="0" y="-17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Mean Demographics</a:t>
            </a:r>
            <a:r>
              <a:rPr lang="en-US" baseline="0" dirty="0"/>
              <a:t>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Intervention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Age</c:v>
                </c:pt>
                <c:pt idx="1">
                  <c:v>Baseline BMI</c:v>
                </c:pt>
                <c:pt idx="2">
                  <c:v>Baseline Systolic BP</c:v>
                </c:pt>
                <c:pt idx="3">
                  <c:v>Baseline Diastolic BP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25</c:v>
                </c:pt>
                <c:pt idx="2">
                  <c:v>156</c:v>
                </c:pt>
                <c:pt idx="3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9A-954F-947E-5B242B763F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Age</c:v>
                </c:pt>
                <c:pt idx="1">
                  <c:v>Baseline BMI</c:v>
                </c:pt>
                <c:pt idx="2">
                  <c:v>Baseline Systolic BP</c:v>
                </c:pt>
                <c:pt idx="3">
                  <c:v>Baseline Diastolic BP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47</c:v>
                </c:pt>
                <c:pt idx="1">
                  <c:v>26</c:v>
                </c:pt>
                <c:pt idx="2">
                  <c:v>152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9A-954F-947E-5B242B763FA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91945056"/>
        <c:axId val="262072064"/>
      </c:barChart>
      <c:catAx>
        <c:axId val="291945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072064"/>
        <c:crosses val="autoZero"/>
        <c:auto val="1"/>
        <c:lblAlgn val="ctr"/>
        <c:lblOffset val="100"/>
        <c:noMultiLvlLbl val="0"/>
      </c:catAx>
      <c:valAx>
        <c:axId val="262072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1945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607d2fc18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607d2fc18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1ab87a8f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1ab87a8fe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effectLst/>
              </a:rPr>
              <a:t>Facts about hypertension. Centers for Disease Control and Prevention. https://</a:t>
            </a:r>
            <a:r>
              <a:rPr lang="en-US" dirty="0" err="1">
                <a:effectLst/>
              </a:rPr>
              <a:t>www.cdc.gov</a:t>
            </a:r>
            <a:r>
              <a:rPr lang="en-US" dirty="0">
                <a:effectLst/>
              </a:rPr>
              <a:t>/</a:t>
            </a:r>
            <a:r>
              <a:rPr lang="en-US" dirty="0" err="1">
                <a:effectLst/>
              </a:rPr>
              <a:t>bloodpressure</a:t>
            </a:r>
            <a:r>
              <a:rPr lang="en-US" dirty="0">
                <a:effectLst/>
              </a:rPr>
              <a:t>/</a:t>
            </a:r>
            <a:r>
              <a:rPr lang="en-US" dirty="0" err="1">
                <a:effectLst/>
              </a:rPr>
              <a:t>facts.htm</a:t>
            </a:r>
            <a:r>
              <a:rPr lang="en-US" dirty="0">
                <a:effectLst/>
              </a:rPr>
              <a:t>. Published September 27, 2021. Accessed April 26, 2022.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effectLst/>
              </a:rPr>
              <a:t>Blood pressure medicines. MedlinePlus. https://</a:t>
            </a:r>
            <a:r>
              <a:rPr lang="en-US" dirty="0" err="1">
                <a:effectLst/>
              </a:rPr>
              <a:t>medlineplus.gov</a:t>
            </a:r>
            <a:r>
              <a:rPr lang="en-US" dirty="0">
                <a:effectLst/>
              </a:rPr>
              <a:t>/</a:t>
            </a:r>
            <a:r>
              <a:rPr lang="en-US" dirty="0" err="1">
                <a:effectLst/>
              </a:rPr>
              <a:t>bloodpressuremedicines.html</a:t>
            </a:r>
            <a:r>
              <a:rPr lang="en-US" dirty="0">
                <a:effectLst/>
              </a:rPr>
              <a:t>. Published November 5, 2021. Accessed April 26, 2022.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1ab87a8f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1ab87a8fe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Frohlich ED. Angiotensin converting enzyme inhibitors. Present and future. 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Hypertension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1989;13(5 Suppl):I125-I130. doi:10.1161/01.hyp.13.5_suppl.i125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Goyal A, Cusick AS,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Thielemier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B. ACE Inhibitors. [Updated 2021 Jul 8]. In: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StatPearls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[Internet]. Treasure Island (FL):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StatPearls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Publishing; 2022 Jan-. Available from: https://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www.ncbi.nlm.nih.gov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/books/NBK430896/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0234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1ab87a8f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1ab87a8fe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Khalil H,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Zeltser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R. Antihypertensive Medications. [Updated 2022 Jan 19]. In: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StatPearls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[Internet]. Treasure Island (FL):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StatPearls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Publishing; 2022 Jan-. Available from: https://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www.ncbi.nlm.nih.gov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/books/NBK554579/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7762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1ab87a8f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1ab87a8fe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5039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1ab87a8f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1ab87a8fe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8822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1ab87a8f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1ab87a8fe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16536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607d2fc189_0_7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607d2fc189_0_7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1ab87a8f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1ab87a8fe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4098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1ab87a8f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1ab87a8fe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7936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1ab87a8f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1ab87a8fe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3897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1ab87a8f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1ab87a8fe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77546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1ab87a8f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1ab87a8fe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0121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1ab87a8f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1ab87a8fe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4820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1ab87a8f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1ab87a8fe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64829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607d2fc18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607d2fc18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7586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36550" y="994304"/>
            <a:ext cx="4470900" cy="2425800"/>
          </a:xfrm>
          <a:prstGeom prst="rect">
            <a:avLst/>
          </a:prstGeom>
          <a:solidFill>
            <a:srgbClr val="CAD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883300" y="1961550"/>
            <a:ext cx="3377400" cy="64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910750" y="2483508"/>
            <a:ext cx="3322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SECTION_HEADER_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1166425" y="1857150"/>
            <a:ext cx="2793300" cy="14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333700" y="-47850"/>
            <a:ext cx="227400" cy="5239200"/>
          </a:xfrm>
          <a:prstGeom prst="rect">
            <a:avLst/>
          </a:prstGeom>
          <a:solidFill>
            <a:srgbClr val="CAD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 rot="-5400000">
            <a:off x="-1703750" y="2544750"/>
            <a:ext cx="4302300" cy="20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">
  <p:cSld name="SECTION_HEADER_2_1_1_2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/>
          <p:nvPr/>
        </p:nvSpPr>
        <p:spPr>
          <a:xfrm>
            <a:off x="333700" y="-47850"/>
            <a:ext cx="227400" cy="5239200"/>
          </a:xfrm>
          <a:prstGeom prst="rect">
            <a:avLst/>
          </a:prstGeom>
          <a:solidFill>
            <a:srgbClr val="CAD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 rot="-5400000">
            <a:off x="-1703750" y="2544750"/>
            <a:ext cx="4302300" cy="20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subTitle" idx="1"/>
          </p:nvPr>
        </p:nvSpPr>
        <p:spPr>
          <a:xfrm>
            <a:off x="5397432" y="3289025"/>
            <a:ext cx="2078700" cy="4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9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9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9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9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9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9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9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2"/>
          </p:nvPr>
        </p:nvSpPr>
        <p:spPr>
          <a:xfrm>
            <a:off x="2228775" y="3289025"/>
            <a:ext cx="2078700" cy="4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9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9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9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9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9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9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9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title" idx="3"/>
          </p:nvPr>
        </p:nvSpPr>
        <p:spPr>
          <a:xfrm>
            <a:off x="2228775" y="3016100"/>
            <a:ext cx="2078700" cy="3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title" idx="4"/>
          </p:nvPr>
        </p:nvSpPr>
        <p:spPr>
          <a:xfrm>
            <a:off x="5397432" y="3016100"/>
            <a:ext cx="2078700" cy="3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DFDF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 Black"/>
              <a:buNone/>
              <a:defRPr sz="28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 Black"/>
              <a:buNone/>
              <a:defRPr sz="28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 Black"/>
              <a:buNone/>
              <a:defRPr sz="28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 Black"/>
              <a:buNone/>
              <a:defRPr sz="28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 Black"/>
              <a:buNone/>
              <a:defRPr sz="28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 Black"/>
              <a:buNone/>
              <a:defRPr sz="28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 Black"/>
              <a:buNone/>
              <a:defRPr sz="28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 Black"/>
              <a:buNone/>
              <a:defRPr sz="28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  <a:defRPr sz="1200"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aleway"/>
              <a:buChar char="○"/>
              <a:defRPr sz="1200"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aleway"/>
              <a:buChar char="■"/>
              <a:defRPr sz="1200"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aleway"/>
              <a:buChar char="●"/>
              <a:defRPr sz="1200"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aleway"/>
              <a:buChar char="○"/>
              <a:defRPr sz="1200"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aleway"/>
              <a:buChar char="■"/>
              <a:defRPr sz="1200"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aleway"/>
              <a:buChar char="●"/>
              <a:defRPr sz="1200"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aleway"/>
              <a:buChar char="○"/>
              <a:defRPr sz="1200"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aleway"/>
              <a:buChar char="■"/>
              <a:defRPr sz="1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7" r:id="rId3"/>
    <p:sldLayoutId id="214748366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books/NBK430896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79;p25">
            <a:extLst>
              <a:ext uri="{FF2B5EF4-FFF2-40B4-BE49-F238E27FC236}">
                <a16:creationId xmlns:a16="http://schemas.microsoft.com/office/drawing/2014/main" id="{714BC68D-2DBE-75DD-73C1-168C09780541}"/>
              </a:ext>
            </a:extLst>
          </p:cNvPr>
          <p:cNvSpPr/>
          <p:nvPr/>
        </p:nvSpPr>
        <p:spPr>
          <a:xfrm>
            <a:off x="774000" y="695700"/>
            <a:ext cx="7596000" cy="2887800"/>
          </a:xfrm>
          <a:prstGeom prst="rect">
            <a:avLst/>
          </a:prstGeom>
          <a:solidFill>
            <a:srgbClr val="CAD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ctrTitle"/>
          </p:nvPr>
        </p:nvSpPr>
        <p:spPr>
          <a:xfrm>
            <a:off x="1642822" y="1786611"/>
            <a:ext cx="5858356" cy="8264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ACE Inhibitors and Diuretics Among Hypertensive patients: A Randomized Parallel Clinical Trial 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129" name="Google Shape;129;p21"/>
          <p:cNvSpPr txBox="1">
            <a:spLocks noGrp="1"/>
          </p:cNvSpPr>
          <p:nvPr>
            <p:ph type="subTitle" idx="1"/>
          </p:nvPr>
        </p:nvSpPr>
        <p:spPr>
          <a:xfrm>
            <a:off x="2910750" y="2723289"/>
            <a:ext cx="3322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Lizbeth Vasquez</a:t>
            </a:r>
            <a:endParaRPr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subTitle" idx="1"/>
          </p:nvPr>
        </p:nvSpPr>
        <p:spPr>
          <a:xfrm>
            <a:off x="641931" y="1176810"/>
            <a:ext cx="4011805" cy="3616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dirty="0"/>
              <a:t>Blood Pressure: The pressure of the blood in the circulatory system, </a:t>
            </a:r>
          </a:p>
          <a:p>
            <a:pPr marL="171450" lvl="0" indent="-17145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dirty="0"/>
              <a:t> In 2019, more than half a million deaths in the United States had hypertension as a primary or contributing cause.</a:t>
            </a:r>
            <a:r>
              <a:rPr lang="en-US" baseline="30000" dirty="0"/>
              <a:t>1</a:t>
            </a:r>
            <a:endParaRPr lang="en-US" dirty="0"/>
          </a:p>
          <a:p>
            <a:pPr marL="171450" lvl="0" indent="-17145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dirty="0"/>
              <a:t>Treatments for high blood pressure include a change in lifestyle and prescription medications including: Angiotensin-converting enzyme (ACE) inhibitors and angiotensin II receptor blockers (ARBs), Calcium channel blockers, Diuretics, and Beta Blockers.</a:t>
            </a:r>
            <a:r>
              <a:rPr lang="en-US" baseline="30000" dirty="0"/>
              <a:t>2</a:t>
            </a:r>
            <a:endParaRPr dirty="0"/>
          </a:p>
        </p:txBody>
      </p:sp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641931" y="635786"/>
            <a:ext cx="4302300" cy="20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INTRODUCTION</a:t>
            </a:r>
            <a:endParaRPr sz="3600" dirty="0"/>
          </a:p>
        </p:txBody>
      </p:sp>
      <p:cxnSp>
        <p:nvCxnSpPr>
          <p:cNvPr id="174" name="Google Shape;174;p24"/>
          <p:cNvCxnSpPr/>
          <p:nvPr/>
        </p:nvCxnSpPr>
        <p:spPr>
          <a:xfrm>
            <a:off x="1253250" y="34451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1026" name="Picture 2" descr="What Are Systolic and Diastolic Blood Pressures?">
            <a:extLst>
              <a:ext uri="{FF2B5EF4-FFF2-40B4-BE49-F238E27FC236}">
                <a16:creationId xmlns:a16="http://schemas.microsoft.com/office/drawing/2014/main" id="{F4897380-2ACC-FE66-6FBD-931458AD1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736" y="1615044"/>
            <a:ext cx="4339005" cy="289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641931" y="635786"/>
            <a:ext cx="4302300" cy="20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ACE Inhibitors</a:t>
            </a:r>
            <a:endParaRPr sz="3600" dirty="0"/>
          </a:p>
        </p:txBody>
      </p:sp>
      <p:cxnSp>
        <p:nvCxnSpPr>
          <p:cNvPr id="174" name="Google Shape;174;p24"/>
          <p:cNvCxnSpPr/>
          <p:nvPr/>
        </p:nvCxnSpPr>
        <p:spPr>
          <a:xfrm>
            <a:off x="1253250" y="34451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6" name="Google Shape;170;p24">
            <a:extLst>
              <a:ext uri="{FF2B5EF4-FFF2-40B4-BE49-F238E27FC236}">
                <a16:creationId xmlns:a16="http://schemas.microsoft.com/office/drawing/2014/main" id="{6C8E6AC4-2911-FCC9-4808-15A930E4D0A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06084" y="1270661"/>
            <a:ext cx="3071661" cy="35269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dirty="0"/>
              <a:t>ACE inhibitors will reduce the left ventricular afterload which is the force used to promote forward blood flow through the heart</a:t>
            </a:r>
            <a:r>
              <a:rPr lang="en-US" baseline="30000" dirty="0"/>
              <a:t>3</a:t>
            </a:r>
            <a:endParaRPr lang="en-US" dirty="0"/>
          </a:p>
          <a:p>
            <a:pPr marL="171450" lvl="0" indent="-17145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dirty="0"/>
              <a:t>With this, the inhibitors also diminish cardiac mass and wall thickness.</a:t>
            </a:r>
            <a:r>
              <a:rPr lang="en-US" baseline="30000" dirty="0"/>
              <a:t>4</a:t>
            </a:r>
            <a:endParaRPr lang="en-US" dirty="0"/>
          </a:p>
          <a:p>
            <a:pPr marL="171450" indent="-17145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dirty="0"/>
              <a:t>Phosphorus-containing ACE inhibitor. </a:t>
            </a:r>
            <a:r>
              <a:rPr lang="en-US" dirty="0" err="1"/>
              <a:t>Fosinopril</a:t>
            </a:r>
            <a:r>
              <a:rPr lang="en-US" dirty="0"/>
              <a:t> – Hypertension therapy dosing is 10 mg - 80 mg. May split into two equal doses during the day to control blood pressure. </a:t>
            </a:r>
            <a:endParaRPr lang="en-US" sz="16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</a:pPr>
            <a:endParaRPr sz="1600" dirty="0"/>
          </a:p>
        </p:txBody>
      </p:sp>
      <p:pic>
        <p:nvPicPr>
          <p:cNvPr id="2050" name="Picture 2" descr="ACE Inhibitors: Mechanism of Action, Side Effects and Precautions">
            <a:extLst>
              <a:ext uri="{FF2B5EF4-FFF2-40B4-BE49-F238E27FC236}">
                <a16:creationId xmlns:a16="http://schemas.microsoft.com/office/drawing/2014/main" id="{3D64FAD3-C232-4978-64CB-78390352B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250" y="1314963"/>
            <a:ext cx="4229022" cy="3148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8494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subTitle" idx="1"/>
          </p:nvPr>
        </p:nvSpPr>
        <p:spPr>
          <a:xfrm>
            <a:off x="811703" y="1407201"/>
            <a:ext cx="3187829" cy="34735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dirty="0"/>
              <a:t>Causes the kidneys to create more urine. Helping the body get rid of extra fluid and salt.</a:t>
            </a:r>
          </a:p>
          <a:p>
            <a:pPr marL="171450" lvl="0" indent="-17145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dirty="0"/>
              <a:t>Thiazide diuretics used as the first-line treatment for HTN in all age groups regardless of race unless the patient has evidence of chronic kidney disease.</a:t>
            </a:r>
            <a:r>
              <a:rPr lang="en-US" baseline="30000" dirty="0"/>
              <a:t>5</a:t>
            </a:r>
            <a:endParaRPr lang="en-US" dirty="0"/>
          </a:p>
          <a:p>
            <a:pPr marL="171450" lvl="0" indent="-17145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dirty="0"/>
              <a:t>Chlorthalidone, when compared with lisinopril, was better in preventing cardiovascular disease, </a:t>
            </a:r>
            <a:endParaRPr dirty="0"/>
          </a:p>
        </p:txBody>
      </p:sp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641931" y="635786"/>
            <a:ext cx="4302300" cy="20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Diuretics</a:t>
            </a:r>
            <a:endParaRPr sz="3600" dirty="0"/>
          </a:p>
        </p:txBody>
      </p:sp>
      <p:pic>
        <p:nvPicPr>
          <p:cNvPr id="3074" name="Picture 2" descr="Thiazide Diuretics - Renal - Medbullets Step 1">
            <a:extLst>
              <a:ext uri="{FF2B5EF4-FFF2-40B4-BE49-F238E27FC236}">
                <a16:creationId xmlns:a16="http://schemas.microsoft.com/office/drawing/2014/main" id="{A22A56EB-23A8-B443-CFFD-DEAF0974C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314" y="1185404"/>
            <a:ext cx="4302300" cy="347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58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subTitle" idx="1"/>
          </p:nvPr>
        </p:nvSpPr>
        <p:spPr>
          <a:xfrm>
            <a:off x="1253250" y="2213410"/>
            <a:ext cx="6637500" cy="14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1600"/>
              </a:spcBef>
              <a:spcAft>
                <a:spcPts val="1600"/>
              </a:spcAft>
            </a:pPr>
            <a:r>
              <a:rPr lang="en-US" sz="1200" dirty="0"/>
              <a:t>Does an ACE inhibitor (</a:t>
            </a:r>
            <a:r>
              <a:rPr lang="en-US" sz="1200" dirty="0" err="1"/>
              <a:t>Fosinopril</a:t>
            </a:r>
            <a:r>
              <a:rPr lang="en-US" sz="1200" dirty="0"/>
              <a:t>) decrease blood pressure in hypertensive patients aged 30-65 at a higher rate than a standalone standard diuretic (Chlorthalidone) during a short term period (1 month)?</a:t>
            </a:r>
            <a:endParaRPr sz="1200" dirty="0"/>
          </a:p>
        </p:txBody>
      </p:sp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3064590" y="668541"/>
            <a:ext cx="3014820" cy="4843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Hypothesis</a:t>
            </a:r>
            <a:endParaRPr sz="3600" dirty="0"/>
          </a:p>
        </p:txBody>
      </p:sp>
      <p:cxnSp>
        <p:nvCxnSpPr>
          <p:cNvPr id="173" name="Google Shape;173;p24"/>
          <p:cNvCxnSpPr/>
          <p:nvPr/>
        </p:nvCxnSpPr>
        <p:spPr>
          <a:xfrm>
            <a:off x="1253250" y="17687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74" name="Google Shape;174;p24"/>
          <p:cNvCxnSpPr/>
          <p:nvPr/>
        </p:nvCxnSpPr>
        <p:spPr>
          <a:xfrm>
            <a:off x="1253250" y="34451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88030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subTitle" idx="1"/>
          </p:nvPr>
        </p:nvSpPr>
        <p:spPr>
          <a:xfrm>
            <a:off x="3466776" y="1768750"/>
            <a:ext cx="4811014" cy="31805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aleway" pitchFamily="2" charset="77"/>
                <a:ea typeface="Arial"/>
                <a:cs typeface="Arial"/>
                <a:sym typeface="Arial"/>
              </a:rPr>
              <a:t>Patients were selected from Houston Methodist Hospital in Houston, Texas.</a:t>
            </a:r>
          </a:p>
          <a:p>
            <a:pPr marL="0" lv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endParaRPr lang="en-US" dirty="0">
              <a:latin typeface="Raleway" pitchFamily="2" charset="77"/>
              <a:ea typeface="Arial"/>
              <a:cs typeface="Arial"/>
              <a:sym typeface="Arial"/>
            </a:endParaRPr>
          </a:p>
          <a:p>
            <a:pPr marL="171450" lvl="0" indent="-17145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aleway" pitchFamily="2" charset="77"/>
                <a:ea typeface="Arial"/>
                <a:cs typeface="Arial"/>
                <a:sym typeface="Arial"/>
              </a:rPr>
              <a:t>inclusion criteria: Huston resident aged 30-65 diagnosed with hypertension for the first time in their lives. </a:t>
            </a:r>
          </a:p>
          <a:p>
            <a:pPr marL="0" lv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endParaRPr lang="en-US" dirty="0">
              <a:latin typeface="Raleway" pitchFamily="2" charset="77"/>
              <a:ea typeface="Arial"/>
              <a:cs typeface="Arial"/>
              <a:sym typeface="Arial"/>
            </a:endParaRPr>
          </a:p>
          <a:p>
            <a:pPr marL="171450" lvl="0" indent="-17145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aleway" pitchFamily="2" charset="77"/>
                <a:ea typeface="Arial"/>
                <a:cs typeface="Arial"/>
                <a:sym typeface="Arial"/>
              </a:rPr>
              <a:t>Exclusion criteria: Patients already on hypertensive medications, pregnant women, visually impaired or person with hearing loss, any bed-ridden patients, participants diagnosed with kidney disease, cancer, heart disease, chronic obstructive pulmonary disease, and mental illness. 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641930" y="635785"/>
            <a:ext cx="6654220" cy="4843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Methods: Study Population</a:t>
            </a:r>
            <a:endParaRPr sz="3600" dirty="0"/>
          </a:p>
        </p:txBody>
      </p:sp>
      <p:cxnSp>
        <p:nvCxnSpPr>
          <p:cNvPr id="173" name="Google Shape;173;p24"/>
          <p:cNvCxnSpPr/>
          <p:nvPr/>
        </p:nvCxnSpPr>
        <p:spPr>
          <a:xfrm>
            <a:off x="1253250" y="17687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74" name="Google Shape;174;p24"/>
          <p:cNvCxnSpPr/>
          <p:nvPr/>
        </p:nvCxnSpPr>
        <p:spPr>
          <a:xfrm>
            <a:off x="1253250" y="34451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4098" name="Picture 2" descr="Texas Medical Center | Houston Methodist">
            <a:extLst>
              <a:ext uri="{FF2B5EF4-FFF2-40B4-BE49-F238E27FC236}">
                <a16:creationId xmlns:a16="http://schemas.microsoft.com/office/drawing/2014/main" id="{0F4F451A-810B-0A2A-2D2E-4933B51EDF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5" r="18333"/>
          <a:stretch/>
        </p:blipFill>
        <p:spPr bwMode="auto">
          <a:xfrm>
            <a:off x="866210" y="1768750"/>
            <a:ext cx="2213526" cy="1939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404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subTitle" idx="1"/>
          </p:nvPr>
        </p:nvSpPr>
        <p:spPr>
          <a:xfrm>
            <a:off x="1166424" y="1857149"/>
            <a:ext cx="4939407" cy="21101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dirty="0"/>
              <a:t>Baseline data obtained from primary physicians during initial study period: July 23</a:t>
            </a:r>
            <a:r>
              <a:rPr lang="en-US" baseline="30000" dirty="0"/>
              <a:t>rd</a:t>
            </a:r>
            <a:r>
              <a:rPr lang="en-US" dirty="0"/>
              <a:t>-27</a:t>
            </a:r>
            <a:r>
              <a:rPr lang="en-US" baseline="30000" dirty="0"/>
              <a:t>th</a:t>
            </a:r>
            <a:r>
              <a:rPr lang="en-US" dirty="0"/>
              <a:t> of 2018. </a:t>
            </a:r>
          </a:p>
          <a:p>
            <a:pPr marL="0" lvl="0" indent="0">
              <a:spcBef>
                <a:spcPts val="100"/>
              </a:spcBef>
              <a:spcAft>
                <a:spcPts val="100"/>
              </a:spcAft>
            </a:pPr>
            <a:endParaRPr lang="en-US" dirty="0"/>
          </a:p>
          <a:p>
            <a:pPr marL="171450" lvl="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dirty="0"/>
              <a:t>Follow up data recorded Aug 23</a:t>
            </a:r>
            <a:r>
              <a:rPr lang="en-US" baseline="30000" dirty="0"/>
              <a:t>rd</a:t>
            </a:r>
            <a:r>
              <a:rPr lang="en-US" dirty="0"/>
              <a:t>-29</a:t>
            </a:r>
            <a:r>
              <a:rPr lang="en-US" baseline="30000" dirty="0"/>
              <a:t>th</a:t>
            </a:r>
            <a:r>
              <a:rPr lang="en-US" dirty="0"/>
              <a:t> of 2018 </a:t>
            </a:r>
          </a:p>
          <a:p>
            <a:pPr marL="171450" lvl="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dirty="0"/>
              <a:t>The baseline and follow up data included blood pressure, BMI, age, and sex of the patient </a:t>
            </a:r>
          </a:p>
          <a:p>
            <a:pPr marL="0" lvl="0" indent="0">
              <a:spcBef>
                <a:spcPts val="100"/>
              </a:spcBef>
              <a:spcAft>
                <a:spcPts val="100"/>
              </a:spcAft>
            </a:pPr>
            <a:endParaRPr lang="en-US" dirty="0"/>
          </a:p>
          <a:p>
            <a:pPr marL="171450" lvl="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774665" y="608880"/>
            <a:ext cx="7336948" cy="4843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Data Collection</a:t>
            </a:r>
            <a:endParaRPr sz="3600" dirty="0"/>
          </a:p>
        </p:txBody>
      </p:sp>
      <p:cxnSp>
        <p:nvCxnSpPr>
          <p:cNvPr id="173" name="Google Shape;173;p24"/>
          <p:cNvCxnSpPr/>
          <p:nvPr/>
        </p:nvCxnSpPr>
        <p:spPr>
          <a:xfrm>
            <a:off x="1253250" y="17687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60194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A5F951-6413-0ADC-AA8F-8EC8B8CC3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141125" y="-7777"/>
            <a:ext cx="254000" cy="2852377"/>
          </a:xfrm>
          <a:prstGeom prst="rect">
            <a:avLst/>
          </a:prstGeom>
        </p:spPr>
      </p:pic>
      <p:pic>
        <p:nvPicPr>
          <p:cNvPr id="6146" name="Picture 2" descr="B 8 Pill (White/Rectangle) - Pill Identifier - Drugs.com">
            <a:extLst>
              <a:ext uri="{FF2B5EF4-FFF2-40B4-BE49-F238E27FC236}">
                <a16:creationId xmlns:a16="http://schemas.microsoft.com/office/drawing/2014/main" id="{4BEF52C4-98CC-27A3-D4E0-910553B009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b="5527"/>
          <a:stretch/>
        </p:blipFill>
        <p:spPr bwMode="auto">
          <a:xfrm>
            <a:off x="1841934" y="1522949"/>
            <a:ext cx="2852382" cy="107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B 8 Pill (White/Rectangle) - Pill Identifier - Drugs.com">
            <a:extLst>
              <a:ext uri="{FF2B5EF4-FFF2-40B4-BE49-F238E27FC236}">
                <a16:creationId xmlns:a16="http://schemas.microsoft.com/office/drawing/2014/main" id="{2F8DFCF6-B7C1-4AC5-5EAE-6D4AE0F9A6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b="5527"/>
          <a:stretch/>
        </p:blipFill>
        <p:spPr bwMode="auto">
          <a:xfrm>
            <a:off x="1841934" y="2593175"/>
            <a:ext cx="2852380" cy="107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2" name="Google Shape;402;p34"/>
          <p:cNvSpPr/>
          <p:nvPr/>
        </p:nvSpPr>
        <p:spPr>
          <a:xfrm>
            <a:off x="5189000" y="2612800"/>
            <a:ext cx="2514600" cy="1726800"/>
          </a:xfrm>
          <a:prstGeom prst="rect">
            <a:avLst/>
          </a:prstGeom>
          <a:solidFill>
            <a:srgbClr val="CAD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4"/>
          <p:cNvSpPr txBox="1">
            <a:spLocks noGrp="1"/>
          </p:cNvSpPr>
          <p:nvPr>
            <p:ph type="subTitle" idx="1"/>
          </p:nvPr>
        </p:nvSpPr>
        <p:spPr>
          <a:xfrm>
            <a:off x="5406948" y="3365531"/>
            <a:ext cx="2078700" cy="8995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30-day supply of 35mg, which should be taken orally in the morning with food.</a:t>
            </a:r>
            <a:endParaRPr dirty="0"/>
          </a:p>
        </p:txBody>
      </p:sp>
      <p:sp>
        <p:nvSpPr>
          <p:cNvPr id="404" name="Google Shape;404;p34"/>
          <p:cNvSpPr/>
          <p:nvPr/>
        </p:nvSpPr>
        <p:spPr>
          <a:xfrm>
            <a:off x="-1136089" y="3664976"/>
            <a:ext cx="2514600" cy="1726800"/>
          </a:xfrm>
          <a:prstGeom prst="rect">
            <a:avLst/>
          </a:prstGeom>
          <a:solidFill>
            <a:srgbClr val="CAD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5" name="Google Shape;405;p34"/>
          <p:cNvSpPr txBox="1">
            <a:spLocks noGrp="1"/>
          </p:cNvSpPr>
          <p:nvPr>
            <p:ph type="subTitle" idx="2"/>
          </p:nvPr>
        </p:nvSpPr>
        <p:spPr>
          <a:xfrm>
            <a:off x="2114475" y="4666471"/>
            <a:ext cx="2078700" cy="4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30-day supply of 25mg was given for the intervention participants to split orally into two equal doses during the day to control blood pressure.</a:t>
            </a:r>
            <a:endParaRPr dirty="0"/>
          </a:p>
        </p:txBody>
      </p:sp>
      <p:sp>
        <p:nvSpPr>
          <p:cNvPr id="406" name="Google Shape;406;p34"/>
          <p:cNvSpPr txBox="1">
            <a:spLocks noGrp="1"/>
          </p:cNvSpPr>
          <p:nvPr>
            <p:ph type="title" idx="3"/>
          </p:nvPr>
        </p:nvSpPr>
        <p:spPr>
          <a:xfrm>
            <a:off x="2228774" y="2452900"/>
            <a:ext cx="2078700" cy="3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Raleway" pitchFamily="2" charset="77"/>
              </a:rPr>
              <a:t> (Fosinopril)</a:t>
            </a:r>
            <a:endParaRPr b="1" dirty="0">
              <a:latin typeface="Raleway" pitchFamily="2" charset="77"/>
            </a:endParaRPr>
          </a:p>
        </p:txBody>
      </p:sp>
      <p:sp>
        <p:nvSpPr>
          <p:cNvPr id="407" name="Google Shape;407;p34"/>
          <p:cNvSpPr txBox="1">
            <a:spLocks noGrp="1"/>
          </p:cNvSpPr>
          <p:nvPr>
            <p:ph type="title" idx="4"/>
          </p:nvPr>
        </p:nvSpPr>
        <p:spPr>
          <a:xfrm>
            <a:off x="2228774" y="1351662"/>
            <a:ext cx="2078700" cy="3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1" dirty="0">
                <a:latin typeface="Raleway" pitchFamily="2" charset="77"/>
                <a:cs typeface="Arial"/>
                <a:sym typeface="Arial"/>
              </a:rPr>
              <a:t>(C</a:t>
            </a:r>
            <a:r>
              <a:rPr lang="en-US" b="1" dirty="0">
                <a:latin typeface="Raleway" pitchFamily="2" charset="77"/>
                <a:ea typeface="Arial"/>
                <a:cs typeface="Arial"/>
                <a:sym typeface="Arial"/>
              </a:rPr>
              <a:t>hlorthalidone)</a:t>
            </a:r>
            <a:endParaRPr b="1" dirty="0">
              <a:latin typeface="Raleway" pitchFamily="2" charset="77"/>
            </a:endParaRPr>
          </a:p>
        </p:txBody>
      </p:sp>
      <p:sp>
        <p:nvSpPr>
          <p:cNvPr id="16" name="Google Shape;171;p24">
            <a:extLst>
              <a:ext uri="{FF2B5EF4-FFF2-40B4-BE49-F238E27FC236}">
                <a16:creationId xmlns:a16="http://schemas.microsoft.com/office/drawing/2014/main" id="{8719C5AB-44CE-3309-ADB2-4F23DE41E488}"/>
              </a:ext>
            </a:extLst>
          </p:cNvPr>
          <p:cNvSpPr txBox="1">
            <a:spLocks/>
          </p:cNvSpPr>
          <p:nvPr/>
        </p:nvSpPr>
        <p:spPr>
          <a:xfrm>
            <a:off x="641930" y="635785"/>
            <a:ext cx="6654220" cy="484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aleway Black"/>
              <a:buNone/>
              <a:defRPr sz="900" b="0" i="0" u="none" strike="noStrike" cap="none">
                <a:solidFill>
                  <a:srgbClr val="000000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Black"/>
              <a:buNone/>
              <a:defRPr sz="1200" b="0" i="0" u="none" strike="noStrike" cap="none">
                <a:solidFill>
                  <a:srgbClr val="000000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Black"/>
              <a:buNone/>
              <a:defRPr sz="1200" b="0" i="0" u="none" strike="noStrike" cap="none">
                <a:solidFill>
                  <a:srgbClr val="000000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Black"/>
              <a:buNone/>
              <a:defRPr sz="1200" b="0" i="0" u="none" strike="noStrike" cap="none">
                <a:solidFill>
                  <a:srgbClr val="000000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Black"/>
              <a:buNone/>
              <a:defRPr sz="1200" b="0" i="0" u="none" strike="noStrike" cap="none">
                <a:solidFill>
                  <a:srgbClr val="000000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Black"/>
              <a:buNone/>
              <a:defRPr sz="1200" b="0" i="0" u="none" strike="noStrike" cap="none">
                <a:solidFill>
                  <a:srgbClr val="000000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Black"/>
              <a:buNone/>
              <a:defRPr sz="1200" b="0" i="0" u="none" strike="noStrike" cap="none">
                <a:solidFill>
                  <a:srgbClr val="000000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Black"/>
              <a:buNone/>
              <a:defRPr sz="1200" b="0" i="0" u="none" strike="noStrike" cap="none">
                <a:solidFill>
                  <a:srgbClr val="000000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 Black"/>
              <a:buNone/>
              <a:defRPr sz="1200" b="0" i="0" u="none" strike="noStrike" cap="none">
                <a:solidFill>
                  <a:srgbClr val="000000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 sz="3600" dirty="0"/>
              <a:t>Double Blind Study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173;p24"/>
          <p:cNvCxnSpPr/>
          <p:nvPr/>
        </p:nvCxnSpPr>
        <p:spPr>
          <a:xfrm>
            <a:off x="1253250" y="17687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74" name="Google Shape;174;p24"/>
          <p:cNvCxnSpPr/>
          <p:nvPr/>
        </p:nvCxnSpPr>
        <p:spPr>
          <a:xfrm>
            <a:off x="1253250" y="34451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72B03C05-0DD7-13CE-0D34-1A8890F2C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825" y="537210"/>
            <a:ext cx="4834890" cy="40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00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641930" y="635785"/>
            <a:ext cx="2578500" cy="4843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Results</a:t>
            </a:r>
            <a:endParaRPr sz="3600" dirty="0"/>
          </a:p>
        </p:txBody>
      </p:sp>
      <p:cxnSp>
        <p:nvCxnSpPr>
          <p:cNvPr id="173" name="Google Shape;173;p24"/>
          <p:cNvCxnSpPr/>
          <p:nvPr/>
        </p:nvCxnSpPr>
        <p:spPr>
          <a:xfrm>
            <a:off x="1253250" y="17687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74" name="Google Shape;174;p24"/>
          <p:cNvCxnSpPr/>
          <p:nvPr/>
        </p:nvCxnSpPr>
        <p:spPr>
          <a:xfrm>
            <a:off x="1253250" y="34451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1A1E596-C9A5-EF38-3423-A2AFA71FA3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2086449"/>
              </p:ext>
            </p:extLst>
          </p:nvPr>
        </p:nvGraphicFramePr>
        <p:xfrm>
          <a:off x="2081606" y="1392496"/>
          <a:ext cx="5260258" cy="30404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02358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756712" y="204042"/>
            <a:ext cx="6150076" cy="4843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Results: Linear regression</a:t>
            </a:r>
            <a:endParaRPr sz="3600" dirty="0"/>
          </a:p>
        </p:txBody>
      </p:sp>
      <p:cxnSp>
        <p:nvCxnSpPr>
          <p:cNvPr id="173" name="Google Shape;173;p24"/>
          <p:cNvCxnSpPr/>
          <p:nvPr/>
        </p:nvCxnSpPr>
        <p:spPr>
          <a:xfrm>
            <a:off x="1253250" y="17687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74" name="Google Shape;174;p24"/>
          <p:cNvCxnSpPr/>
          <p:nvPr/>
        </p:nvCxnSpPr>
        <p:spPr>
          <a:xfrm>
            <a:off x="1253250" y="34451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A0165670-6961-F05D-CF38-656731476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203" y="903184"/>
            <a:ext cx="4999585" cy="40362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6A3F51-E9C3-84B1-3BA0-F88C1627109A}"/>
              </a:ext>
            </a:extLst>
          </p:cNvPr>
          <p:cNvSpPr txBox="1"/>
          <p:nvPr/>
        </p:nvSpPr>
        <p:spPr>
          <a:xfrm>
            <a:off x="1907203" y="4831736"/>
            <a:ext cx="27366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CI: Confidence interval; RR: Risk Ratio; RD: Risk Difference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1B1FA7-9D29-2242-92B1-B20B1BE8588F}"/>
              </a:ext>
            </a:extLst>
          </p:cNvPr>
          <p:cNvSpPr/>
          <p:nvPr/>
        </p:nvSpPr>
        <p:spPr>
          <a:xfrm>
            <a:off x="4940709" y="2227006"/>
            <a:ext cx="1740310" cy="4572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0F68C5-6858-1627-15DA-9267127FDDCC}"/>
              </a:ext>
            </a:extLst>
          </p:cNvPr>
          <p:cNvSpPr/>
          <p:nvPr/>
        </p:nvSpPr>
        <p:spPr>
          <a:xfrm>
            <a:off x="4940709" y="3786957"/>
            <a:ext cx="1740310" cy="4572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6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-967000" y="1284411"/>
            <a:ext cx="4798750" cy="4843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Discussion: </a:t>
            </a:r>
            <a:endParaRPr sz="3600" dirty="0"/>
          </a:p>
        </p:txBody>
      </p:sp>
      <p:cxnSp>
        <p:nvCxnSpPr>
          <p:cNvPr id="173" name="Google Shape;173;p24"/>
          <p:cNvCxnSpPr/>
          <p:nvPr/>
        </p:nvCxnSpPr>
        <p:spPr>
          <a:xfrm>
            <a:off x="1253250" y="17687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74" name="Google Shape;174;p24"/>
          <p:cNvCxnSpPr/>
          <p:nvPr/>
        </p:nvCxnSpPr>
        <p:spPr>
          <a:xfrm>
            <a:off x="1253250" y="34451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6" name="Google Shape;170;p24">
            <a:extLst>
              <a:ext uri="{FF2B5EF4-FFF2-40B4-BE49-F238E27FC236}">
                <a16:creationId xmlns:a16="http://schemas.microsoft.com/office/drawing/2014/main" id="{A379D8D7-9652-0672-9C63-DD5216CADE60}"/>
              </a:ext>
            </a:extLst>
          </p:cNvPr>
          <p:cNvSpPr txBox="1">
            <a:spLocks/>
          </p:cNvSpPr>
          <p:nvPr/>
        </p:nvSpPr>
        <p:spPr>
          <a:xfrm>
            <a:off x="1084381" y="2571750"/>
            <a:ext cx="7425437" cy="3397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None/>
              <a:defRPr sz="11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No difference in effectiveness between the ACE inhibitor and Thiazide Diuretic. 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Our secondary analysis regarded the major side effects that participants experienced during this study:</a:t>
            </a:r>
          </a:p>
          <a:p>
            <a:pPr marL="628650" lvl="1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dirty="0"/>
              <a:t>Hyperkalemia: High potassium blood level</a:t>
            </a:r>
          </a:p>
          <a:p>
            <a:pPr marL="628650" lvl="1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dirty="0"/>
              <a:t>Syncope: Temporary loss of consciousness caused by a fall in blood pressure.</a:t>
            </a:r>
          </a:p>
          <a:p>
            <a:pPr marL="628650" lvl="1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dirty="0"/>
              <a:t>Hyperglycemia: High blood sugar:</a:t>
            </a:r>
          </a:p>
          <a:p>
            <a:pPr marL="628650" lvl="1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dirty="0"/>
              <a:t>Hyponatremia: Low sodium levels</a:t>
            </a:r>
          </a:p>
          <a:p>
            <a:pPr marL="0" indent="0">
              <a:spcBef>
                <a:spcPts val="100"/>
              </a:spcBef>
              <a:spcAft>
                <a:spcPts val="100"/>
              </a:spcAft>
            </a:pPr>
            <a:r>
              <a:rPr lang="en-US" sz="1200" dirty="0"/>
              <a:t>.</a:t>
            </a:r>
          </a:p>
          <a:p>
            <a:pPr marL="171450" indent="-17145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194" name="Picture 2" descr="The Best Blood Pressure Monitor | April 2022">
            <a:extLst>
              <a:ext uri="{FF2B5EF4-FFF2-40B4-BE49-F238E27FC236}">
                <a16:creationId xmlns:a16="http://schemas.microsoft.com/office/drawing/2014/main" id="{D7BA0B13-0126-05CC-5A15-4CFD4F777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4593" y="0"/>
            <a:ext cx="4939407" cy="2195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180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subTitle" idx="1"/>
          </p:nvPr>
        </p:nvSpPr>
        <p:spPr>
          <a:xfrm>
            <a:off x="1594127" y="2240608"/>
            <a:ext cx="6134028" cy="14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dirty="0"/>
              <a:t>The intervention group who received the ACE inhibitor had .25 the risk of having side effects compared to those taking the Diuretic </a:t>
            </a:r>
          </a:p>
        </p:txBody>
      </p:sp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641929" y="635785"/>
            <a:ext cx="6260315" cy="4843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Discussion</a:t>
            </a:r>
            <a:endParaRPr sz="3600" dirty="0"/>
          </a:p>
        </p:txBody>
      </p:sp>
      <p:cxnSp>
        <p:nvCxnSpPr>
          <p:cNvPr id="173" name="Google Shape;173;p24"/>
          <p:cNvCxnSpPr/>
          <p:nvPr/>
        </p:nvCxnSpPr>
        <p:spPr>
          <a:xfrm>
            <a:off x="1253250" y="17687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74" name="Google Shape;174;p24"/>
          <p:cNvCxnSpPr/>
          <p:nvPr/>
        </p:nvCxnSpPr>
        <p:spPr>
          <a:xfrm>
            <a:off x="1253250" y="34451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00063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subTitle" idx="1"/>
          </p:nvPr>
        </p:nvSpPr>
        <p:spPr>
          <a:xfrm>
            <a:off x="1166425" y="1857149"/>
            <a:ext cx="5647330" cy="2228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Unknown and Unmeasured confounders</a:t>
            </a:r>
          </a:p>
          <a:p>
            <a:pPr marL="171450" lvl="0" indent="-171450" algn="l" rtl="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Adherence</a:t>
            </a:r>
          </a:p>
          <a:p>
            <a:pPr marL="171450" indent="-17145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Selection Bias</a:t>
            </a:r>
          </a:p>
          <a:p>
            <a:pPr marL="171450" indent="-17145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Information Bias</a:t>
            </a:r>
          </a:p>
        </p:txBody>
      </p:sp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641929" y="635785"/>
            <a:ext cx="6422547" cy="4843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Discussion: Limitations </a:t>
            </a:r>
            <a:endParaRPr sz="3600" dirty="0"/>
          </a:p>
        </p:txBody>
      </p:sp>
      <p:cxnSp>
        <p:nvCxnSpPr>
          <p:cNvPr id="173" name="Google Shape;173;p24"/>
          <p:cNvCxnSpPr/>
          <p:nvPr/>
        </p:nvCxnSpPr>
        <p:spPr>
          <a:xfrm>
            <a:off x="1253250" y="17687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9218" name="Picture 2" descr="6 Types of Foods That Lower Blood Pressure – Cleveland Clinic">
            <a:extLst>
              <a:ext uri="{FF2B5EF4-FFF2-40B4-BE49-F238E27FC236}">
                <a16:creationId xmlns:a16="http://schemas.microsoft.com/office/drawing/2014/main" id="{541C0C1A-FCBE-469F-0052-99EF40F44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6835" y="2300749"/>
            <a:ext cx="2913839" cy="2016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896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subTitle" idx="1"/>
          </p:nvPr>
        </p:nvSpPr>
        <p:spPr>
          <a:xfrm>
            <a:off x="1166425" y="1857149"/>
            <a:ext cx="7107420" cy="2228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lnSpc>
                <a:spcPct val="100000"/>
              </a:lnSpc>
              <a:buSzPts val="1100"/>
              <a:buFont typeface="+mj-lt"/>
              <a:buAutoNum type="arabicPeriod"/>
              <a:defRPr/>
            </a:pPr>
            <a:r>
              <a:rPr lang="en-US" dirty="0">
                <a:latin typeface="Raleway" pitchFamily="2" charset="77"/>
              </a:rPr>
              <a:t>Facts about hypertension. Centers for Disease Control and Prevention. https://</a:t>
            </a:r>
            <a:r>
              <a:rPr lang="en-US" dirty="0" err="1">
                <a:latin typeface="Raleway" pitchFamily="2" charset="77"/>
              </a:rPr>
              <a:t>www.cdc.gov</a:t>
            </a:r>
            <a:r>
              <a:rPr lang="en-US" dirty="0">
                <a:latin typeface="Raleway" pitchFamily="2" charset="77"/>
              </a:rPr>
              <a:t>/</a:t>
            </a:r>
            <a:r>
              <a:rPr lang="en-US" dirty="0" err="1">
                <a:latin typeface="Raleway" pitchFamily="2" charset="77"/>
              </a:rPr>
              <a:t>bloodpressure</a:t>
            </a:r>
            <a:r>
              <a:rPr lang="en-US" dirty="0">
                <a:latin typeface="Raleway" pitchFamily="2" charset="77"/>
              </a:rPr>
              <a:t>/</a:t>
            </a:r>
            <a:r>
              <a:rPr lang="en-US" dirty="0" err="1">
                <a:latin typeface="Raleway" pitchFamily="2" charset="77"/>
              </a:rPr>
              <a:t>facts.htm</a:t>
            </a:r>
            <a:r>
              <a:rPr lang="en-US" dirty="0">
                <a:latin typeface="Raleway" pitchFamily="2" charset="77"/>
              </a:rPr>
              <a:t>. Published September 27, 2021. Accessed April 26, 2022. </a:t>
            </a:r>
          </a:p>
          <a:p>
            <a:pPr marL="228600" lvl="0" indent="-228600">
              <a:lnSpc>
                <a:spcPct val="100000"/>
              </a:lnSpc>
              <a:buSzPts val="1100"/>
              <a:buFont typeface="+mj-lt"/>
              <a:buAutoNum type="arabicPeriod"/>
              <a:defRPr/>
            </a:pPr>
            <a:r>
              <a:rPr lang="en-US" dirty="0">
                <a:latin typeface="Raleway" pitchFamily="2" charset="77"/>
              </a:rPr>
              <a:t>Blood pressure medicines. MedlinePlus. https://</a:t>
            </a:r>
            <a:r>
              <a:rPr lang="en-US" dirty="0" err="1">
                <a:latin typeface="Raleway" pitchFamily="2" charset="77"/>
              </a:rPr>
              <a:t>medlineplus.gov</a:t>
            </a:r>
            <a:r>
              <a:rPr lang="en-US" dirty="0">
                <a:latin typeface="Raleway" pitchFamily="2" charset="77"/>
              </a:rPr>
              <a:t>/</a:t>
            </a:r>
            <a:r>
              <a:rPr lang="en-US" dirty="0" err="1">
                <a:latin typeface="Raleway" pitchFamily="2" charset="77"/>
              </a:rPr>
              <a:t>bloodpressuremedicines.html</a:t>
            </a:r>
            <a:r>
              <a:rPr lang="en-US" dirty="0">
                <a:latin typeface="Raleway" pitchFamily="2" charset="77"/>
              </a:rPr>
              <a:t>. Published November 5, 2021. Accessed April 26, 2022. </a:t>
            </a:r>
          </a:p>
          <a:p>
            <a:pPr marL="228600" lvl="0" indent="-228600">
              <a:lnSpc>
                <a:spcPct val="100000"/>
              </a:lnSpc>
              <a:buSzPts val="1100"/>
              <a:buFont typeface="+mj-lt"/>
              <a:buAutoNum type="arabicPeriod"/>
              <a:defRPr/>
            </a:pPr>
            <a:r>
              <a:rPr lang="en-US" dirty="0">
                <a:latin typeface="Raleway" pitchFamily="2" charset="77"/>
                <a:ea typeface="Arial"/>
                <a:cs typeface="Arial"/>
                <a:sym typeface="Arial"/>
              </a:rPr>
              <a:t>Frohlich ED. Angiotensin converting enzyme inhibitors. Present and future. </a:t>
            </a:r>
            <a:r>
              <a:rPr lang="en-US" i="1" dirty="0">
                <a:latin typeface="Raleway" pitchFamily="2" charset="77"/>
                <a:ea typeface="Arial"/>
                <a:cs typeface="Arial"/>
                <a:sym typeface="Arial"/>
              </a:rPr>
              <a:t>Hypertension</a:t>
            </a:r>
            <a:r>
              <a:rPr lang="en-US" dirty="0">
                <a:latin typeface="Raleway" pitchFamily="2" charset="77"/>
                <a:ea typeface="Arial"/>
                <a:cs typeface="Arial"/>
                <a:sym typeface="Arial"/>
              </a:rPr>
              <a:t>. 1989;13(5 Suppl):I125-I130. doi:10.1161/01.hyp.13.5_suppl.i125</a:t>
            </a:r>
          </a:p>
          <a:p>
            <a:pPr marL="228600" lvl="0" indent="-228600">
              <a:lnSpc>
                <a:spcPct val="100000"/>
              </a:lnSpc>
              <a:buSzPts val="1100"/>
              <a:buFont typeface="+mj-lt"/>
              <a:buAutoNum type="arabicPeriod"/>
              <a:defRPr/>
            </a:pPr>
            <a:r>
              <a:rPr lang="en-US" dirty="0">
                <a:latin typeface="Raleway" pitchFamily="2" charset="77"/>
                <a:ea typeface="Arial"/>
                <a:cs typeface="Arial"/>
                <a:sym typeface="Arial"/>
              </a:rPr>
              <a:t>Goyal A, Cusick AS, </a:t>
            </a:r>
            <a:r>
              <a:rPr lang="en-US" dirty="0" err="1">
                <a:latin typeface="Raleway" pitchFamily="2" charset="77"/>
                <a:ea typeface="Arial"/>
                <a:cs typeface="Arial"/>
                <a:sym typeface="Arial"/>
              </a:rPr>
              <a:t>Thielemier</a:t>
            </a:r>
            <a:r>
              <a:rPr lang="en-US" dirty="0">
                <a:latin typeface="Raleway" pitchFamily="2" charset="77"/>
                <a:ea typeface="Arial"/>
                <a:cs typeface="Arial"/>
                <a:sym typeface="Arial"/>
              </a:rPr>
              <a:t> B. ACE Inhibitors. [Updated 2021 Jul 8]. In: </a:t>
            </a:r>
            <a:r>
              <a:rPr lang="en-US" dirty="0" err="1">
                <a:latin typeface="Raleway" pitchFamily="2" charset="77"/>
                <a:ea typeface="Arial"/>
                <a:cs typeface="Arial"/>
                <a:sym typeface="Arial"/>
              </a:rPr>
              <a:t>StatPearls</a:t>
            </a:r>
            <a:r>
              <a:rPr lang="en-US" dirty="0">
                <a:latin typeface="Raleway" pitchFamily="2" charset="77"/>
                <a:ea typeface="Arial"/>
                <a:cs typeface="Arial"/>
                <a:sym typeface="Arial"/>
              </a:rPr>
              <a:t> [Internet]. Treasure Island (FL): : </a:t>
            </a:r>
            <a:r>
              <a:rPr lang="en-US" dirty="0">
                <a:latin typeface="Raleway" pitchFamily="2" charset="77"/>
                <a:ea typeface="Arial"/>
                <a:cs typeface="Arial"/>
                <a:sym typeface="Arial"/>
                <a:hlinkClick r:id="rId3"/>
              </a:rPr>
              <a:t>https://www.ncbi.nlm.nih.gov/books/NBK430896/</a:t>
            </a:r>
            <a:endParaRPr lang="en-US" dirty="0">
              <a:latin typeface="Raleway" pitchFamily="2" charset="77"/>
              <a:ea typeface="Arial"/>
              <a:cs typeface="Arial"/>
              <a:sym typeface="Arial"/>
            </a:endParaRPr>
          </a:p>
          <a:p>
            <a:pPr marL="228600" indent="-228600">
              <a:lnSpc>
                <a:spcPct val="100000"/>
              </a:lnSpc>
              <a:buSzPts val="1100"/>
              <a:buFont typeface="+mj-lt"/>
              <a:buAutoNum type="arabicPeriod"/>
              <a:defRPr/>
            </a:pPr>
            <a:r>
              <a:rPr lang="en-US" dirty="0">
                <a:latin typeface="Raleway" pitchFamily="2" charset="77"/>
                <a:ea typeface="Arial"/>
                <a:cs typeface="Arial"/>
                <a:sym typeface="Arial"/>
              </a:rPr>
              <a:t>Khalil H, </a:t>
            </a:r>
            <a:r>
              <a:rPr lang="en-US" dirty="0" err="1">
                <a:latin typeface="Raleway" pitchFamily="2" charset="77"/>
                <a:ea typeface="Arial"/>
                <a:cs typeface="Arial"/>
                <a:sym typeface="Arial"/>
              </a:rPr>
              <a:t>Zeltser</a:t>
            </a:r>
            <a:r>
              <a:rPr lang="en-US" dirty="0">
                <a:latin typeface="Raleway" pitchFamily="2" charset="77"/>
                <a:ea typeface="Arial"/>
                <a:cs typeface="Arial"/>
                <a:sym typeface="Arial"/>
              </a:rPr>
              <a:t> R. Antihypertensive Medications. [Updated 2022 Jan 19]. In: </a:t>
            </a:r>
            <a:r>
              <a:rPr lang="en-US" dirty="0" err="1">
                <a:latin typeface="Raleway" pitchFamily="2" charset="77"/>
                <a:ea typeface="Arial"/>
                <a:cs typeface="Arial"/>
                <a:sym typeface="Arial"/>
              </a:rPr>
              <a:t>StatPearls</a:t>
            </a:r>
            <a:r>
              <a:rPr lang="en-US" dirty="0">
                <a:latin typeface="Raleway" pitchFamily="2" charset="77"/>
                <a:ea typeface="Arial"/>
                <a:cs typeface="Arial"/>
                <a:sym typeface="Arial"/>
              </a:rPr>
              <a:t> [Internet]. Treasure Island (FL): </a:t>
            </a:r>
            <a:r>
              <a:rPr lang="en-US" dirty="0" err="1">
                <a:latin typeface="Raleway" pitchFamily="2" charset="77"/>
                <a:ea typeface="Arial"/>
                <a:cs typeface="Arial"/>
                <a:sym typeface="Arial"/>
              </a:rPr>
              <a:t>StatPearls</a:t>
            </a:r>
            <a:r>
              <a:rPr lang="en-US" dirty="0">
                <a:latin typeface="Raleway" pitchFamily="2" charset="77"/>
                <a:ea typeface="Arial"/>
                <a:cs typeface="Arial"/>
                <a:sym typeface="Arial"/>
              </a:rPr>
              <a:t> Publishing; 2022 Jan-. Available from: https://</a:t>
            </a:r>
            <a:r>
              <a:rPr lang="en-US" dirty="0" err="1">
                <a:latin typeface="Raleway" pitchFamily="2" charset="77"/>
                <a:ea typeface="Arial"/>
                <a:cs typeface="Arial"/>
                <a:sym typeface="Arial"/>
              </a:rPr>
              <a:t>www.ncbi.nlm.nih.gov</a:t>
            </a:r>
            <a:r>
              <a:rPr lang="en-US" dirty="0">
                <a:latin typeface="Raleway" pitchFamily="2" charset="77"/>
                <a:ea typeface="Arial"/>
                <a:cs typeface="Arial"/>
                <a:sym typeface="Arial"/>
              </a:rPr>
              <a:t>/books/NBK554579/</a:t>
            </a:r>
            <a:endParaRPr lang="en-US" dirty="0">
              <a:latin typeface="Raleway" pitchFamily="2" charset="77"/>
            </a:endParaRPr>
          </a:p>
          <a:p>
            <a:pPr marL="228600" lvl="0" indent="-228600">
              <a:lnSpc>
                <a:spcPct val="100000"/>
              </a:lnSpc>
              <a:buSzPts val="1100"/>
              <a:buFont typeface="+mj-lt"/>
              <a:buAutoNum type="arabicPeriod"/>
              <a:defRPr/>
            </a:pPr>
            <a:endParaRPr lang="en-US" sz="1200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>
              <a:lnSpc>
                <a:spcPct val="100000"/>
              </a:lnSpc>
              <a:buSzPts val="1100"/>
              <a:buFont typeface="+mj-lt"/>
              <a:buAutoNum type="arabicPeriod"/>
              <a:defRPr/>
            </a:pPr>
            <a:endParaRPr lang="en-US" sz="1200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>
              <a:lnSpc>
                <a:spcPct val="100000"/>
              </a:lnSpc>
              <a:buSzPts val="1100"/>
              <a:buFont typeface="+mj-lt"/>
              <a:buAutoNum type="arabicPeriod"/>
              <a:defRPr/>
            </a:pPr>
            <a:endParaRPr lang="en-US" sz="1200" dirty="0"/>
          </a:p>
          <a:p>
            <a:pPr marL="228600" lvl="0" indent="-228600">
              <a:lnSpc>
                <a:spcPct val="100000"/>
              </a:lnSpc>
              <a:buSzPts val="1100"/>
              <a:buFont typeface="+mj-lt"/>
              <a:buAutoNum type="arabicPeriod"/>
              <a:defRPr/>
            </a:pPr>
            <a:endParaRPr lang="en-US" sz="1200" dirty="0"/>
          </a:p>
          <a:p>
            <a:pPr marL="0" lvl="0" indent="0">
              <a:lnSpc>
                <a:spcPct val="100000"/>
              </a:lnSpc>
              <a:buSzPts val="1100"/>
              <a:defRPr/>
            </a:pPr>
            <a:endParaRPr lang="en-US" sz="1200" dirty="0"/>
          </a:p>
          <a:p>
            <a:pPr marL="228600" lvl="0" indent="-228600" algn="l" rtl="0"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</a:pPr>
            <a:endParaRPr sz="1200" dirty="0"/>
          </a:p>
        </p:txBody>
      </p:sp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641929" y="635785"/>
            <a:ext cx="6422547" cy="4843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References</a:t>
            </a:r>
            <a:endParaRPr sz="3600" dirty="0"/>
          </a:p>
        </p:txBody>
      </p:sp>
      <p:cxnSp>
        <p:nvCxnSpPr>
          <p:cNvPr id="173" name="Google Shape;173;p24"/>
          <p:cNvCxnSpPr/>
          <p:nvPr/>
        </p:nvCxnSpPr>
        <p:spPr>
          <a:xfrm>
            <a:off x="1253250" y="1768750"/>
            <a:ext cx="2578500" cy="0"/>
          </a:xfrm>
          <a:prstGeom prst="straightConnector1">
            <a:avLst/>
          </a:prstGeom>
          <a:noFill/>
          <a:ln w="9525" cap="flat" cmpd="sng">
            <a:solidFill>
              <a:srgbClr val="CADCDC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18650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79;p25">
            <a:extLst>
              <a:ext uri="{FF2B5EF4-FFF2-40B4-BE49-F238E27FC236}">
                <a16:creationId xmlns:a16="http://schemas.microsoft.com/office/drawing/2014/main" id="{714BC68D-2DBE-75DD-73C1-168C09780541}"/>
              </a:ext>
            </a:extLst>
          </p:cNvPr>
          <p:cNvSpPr/>
          <p:nvPr/>
        </p:nvSpPr>
        <p:spPr>
          <a:xfrm>
            <a:off x="774000" y="695700"/>
            <a:ext cx="7596000" cy="2887800"/>
          </a:xfrm>
          <a:prstGeom prst="rect">
            <a:avLst/>
          </a:prstGeom>
          <a:solidFill>
            <a:srgbClr val="CAD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ctrTitle"/>
          </p:nvPr>
        </p:nvSpPr>
        <p:spPr>
          <a:xfrm>
            <a:off x="1642822" y="1786611"/>
            <a:ext cx="5858356" cy="8264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Thank you,</a:t>
            </a:r>
            <a:br>
              <a:rPr lang="en" dirty="0">
                <a:solidFill>
                  <a:schemeClr val="accent6"/>
                </a:solidFill>
              </a:rPr>
            </a:br>
            <a:r>
              <a:rPr lang="en" dirty="0">
                <a:solidFill>
                  <a:schemeClr val="accent6"/>
                </a:solidFill>
              </a:rPr>
              <a:t>Questions?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129" name="Google Shape;129;p21"/>
          <p:cNvSpPr txBox="1">
            <a:spLocks noGrp="1"/>
          </p:cNvSpPr>
          <p:nvPr>
            <p:ph type="subTitle" idx="1"/>
          </p:nvPr>
        </p:nvSpPr>
        <p:spPr>
          <a:xfrm>
            <a:off x="2910750" y="2723289"/>
            <a:ext cx="3322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Lizbeth Vasquez</a:t>
            </a:r>
            <a:endParaRPr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546833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DISEASE 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CADCDC"/>
      </a:accent1>
      <a:accent2>
        <a:srgbClr val="5F7D95"/>
      </a:accent2>
      <a:accent3>
        <a:srgbClr val="DADCDE"/>
      </a:accent3>
      <a:accent4>
        <a:srgbClr val="E8E9E9"/>
      </a:accent4>
      <a:accent5>
        <a:srgbClr val="CFD9E0"/>
      </a:accent5>
      <a:accent6>
        <a:srgbClr val="435D74"/>
      </a:accent6>
      <a:hlink>
        <a:srgbClr val="435D7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24777</TotalTime>
  <Words>951</Words>
  <Application>Microsoft Macintosh PowerPoint</Application>
  <PresentationFormat>On-screen Show (16:9)</PresentationFormat>
  <Paragraphs>71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Raleway Black</vt:lpstr>
      <vt:lpstr>Times New Roman</vt:lpstr>
      <vt:lpstr>Arial</vt:lpstr>
      <vt:lpstr>Raleway</vt:lpstr>
      <vt:lpstr>MINIMALIST DISEASE </vt:lpstr>
      <vt:lpstr>ACE Inhibitors and Diuretics Among Hypertensive patients: A Randomized Parallel Clinical Trial </vt:lpstr>
      <vt:lpstr>INTRODUCTION</vt:lpstr>
      <vt:lpstr>ACE Inhibitors</vt:lpstr>
      <vt:lpstr>Diuretics</vt:lpstr>
      <vt:lpstr>Hypothesis</vt:lpstr>
      <vt:lpstr>Methods: Study Population</vt:lpstr>
      <vt:lpstr>Data Collection</vt:lpstr>
      <vt:lpstr> (Fosinopril)</vt:lpstr>
      <vt:lpstr>PowerPoint Presentation</vt:lpstr>
      <vt:lpstr>Results</vt:lpstr>
      <vt:lpstr>Results: Linear regression</vt:lpstr>
      <vt:lpstr>Discussion: </vt:lpstr>
      <vt:lpstr>Discussion</vt:lpstr>
      <vt:lpstr>Discussion: Limitations </vt:lpstr>
      <vt:lpstr>References</vt:lpstr>
      <vt:lpstr>Thank you,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 Inhibitors and Diuretics Among Hypertensive patients: A Parallel Clinical Trial </dc:title>
  <cp:lastModifiedBy>Lizbeth Vasquez</cp:lastModifiedBy>
  <cp:revision>9</cp:revision>
  <dcterms:modified xsi:type="dcterms:W3CDTF">2022-05-18T01:35:05Z</dcterms:modified>
</cp:coreProperties>
</file>